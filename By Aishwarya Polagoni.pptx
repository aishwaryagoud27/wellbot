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oxima Nova Bold" charset="1" panose="02000506030000020004"/>
      <p:regular r:id="rId18"/>
    </p:embeddedFont>
    <p:embeddedFont>
      <p:font typeface="Nunito" charset="1" panose="00000000000000000000"/>
      <p:regular r:id="rId19"/>
    </p:embeddedFont>
    <p:embeddedFont>
      <p:font typeface="Archivo Black" charset="1" panose="020B0A03020202020B04"/>
      <p:regular r:id="rId20"/>
    </p:embeddedFont>
    <p:embeddedFont>
      <p:font typeface="Arimo" charset="1" panose="020B0604020202020204"/>
      <p:regular r:id="rId21"/>
    </p:embeddedFont>
    <p:embeddedFont>
      <p:font typeface="Arimo Bold" charset="1" panose="020B0704020202020204"/>
      <p:regular r:id="rId22"/>
    </p:embeddedFont>
    <p:embeddedFont>
      <p:font typeface="Nunito Bold" charset="1" panose="00000000000000000000"/>
      <p:regular r:id="rId23"/>
    </p:embeddedFont>
    <p:embeddedFont>
      <p:font typeface="Open Sans Bold" charset="1" panose="020B0806030504020204"/>
      <p:regular r:id="rId24"/>
    </p:embeddedFont>
    <p:embeddedFont>
      <p:font typeface="Open Sans" charset="1" panose="020B06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7411" y="6636795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82582" y="1989407"/>
            <a:ext cx="14322836" cy="249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6"/>
              </a:lnSpc>
            </a:pPr>
            <a:r>
              <a:rPr lang="en-US" b="true" sz="7154">
                <a:solidFill>
                  <a:srgbClr val="1F1F1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WELLBOT- GLOBAL WELLNESS ASSISTANT CHATBOT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7263" y="8099862"/>
            <a:ext cx="6324005" cy="158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3"/>
              </a:lnSpc>
              <a:spcBef>
                <a:spcPct val="0"/>
              </a:spcBef>
            </a:pPr>
            <a:r>
              <a:rPr lang="en-US" sz="300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Intern: Aishwarya Polagoni</a:t>
            </a:r>
          </a:p>
          <a:p>
            <a:pPr algn="l">
              <a:lnSpc>
                <a:spcPts val="4203"/>
              </a:lnSpc>
              <a:spcBef>
                <a:spcPct val="0"/>
              </a:spcBef>
            </a:pPr>
            <a:r>
              <a:rPr lang="en-US" sz="300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Email: aishwaryagoud57@gmail.com</a:t>
            </a:r>
          </a:p>
          <a:p>
            <a:pPr algn="l">
              <a:lnSpc>
                <a:spcPts val="4203"/>
              </a:lnSpc>
              <a:spcBef>
                <a:spcPct val="0"/>
              </a:spcBef>
            </a:pPr>
            <a:r>
              <a:rPr lang="en-US" sz="300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Mentor: Dr. Santhiya Krishnasamy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2582" y="5000625"/>
            <a:ext cx="14322836" cy="122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6"/>
              </a:lnSpc>
            </a:pPr>
            <a:r>
              <a:rPr lang="en-US" sz="7154">
                <a:solidFill>
                  <a:srgbClr val="1F1F1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35353" y="3028800"/>
            <a:ext cx="12761637" cy="604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5"/>
              </a:lnSpc>
            </a:pPr>
            <a:r>
              <a:rPr lang="en-US" sz="4611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The Challenge:</a:t>
            </a:r>
          </a:p>
          <a:p>
            <a:pPr algn="l" marL="603363" indent="-301682" lvl="1">
              <a:lnSpc>
                <a:spcPts val="3912"/>
              </a:lnSpc>
              <a:buFont typeface="Arial"/>
              <a:buChar char="•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Fast-paced lifestyle leads to neglect of mental and physical health</a:t>
            </a:r>
          </a:p>
          <a:p>
            <a:pPr algn="l" marL="603363" indent="-301682" lvl="1">
              <a:lnSpc>
                <a:spcPts val="3912"/>
              </a:lnSpc>
              <a:buFont typeface="Arial"/>
              <a:buChar char="•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Lack of personalized wellness guidance and immediate emotional support</a:t>
            </a:r>
          </a:p>
          <a:p>
            <a:pPr algn="l" marL="603363" indent="-301682" lvl="1">
              <a:lnSpc>
                <a:spcPts val="3912"/>
              </a:lnSpc>
              <a:buFont typeface="Arial"/>
              <a:buChar char="•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Insufficient motivation for healthy routines and progress tracking</a:t>
            </a:r>
          </a:p>
          <a:p>
            <a:pPr algn="l">
              <a:lnSpc>
                <a:spcPts val="391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Our Solution:</a:t>
            </a:r>
            <a:r>
              <a:rPr lang="en-US" sz="4194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1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WellBot An AI-powered chatbot that:    </a:t>
            </a:r>
          </a:p>
          <a:p>
            <a:pPr algn="l" marL="603363" indent="-301682" lvl="1">
              <a:lnSpc>
                <a:spcPts val="3912"/>
              </a:lnSpc>
              <a:buAutoNum type="arabicPeriod" startAt="1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Detects emotions using NLP sentiment analysis</a:t>
            </a:r>
          </a:p>
          <a:p>
            <a:pPr algn="l" marL="603363" indent="-301682" lvl="1">
              <a:lnSpc>
                <a:spcPts val="3912"/>
              </a:lnSpc>
              <a:buAutoNum type="arabicPeriod" startAt="1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Provides personalized    wellness recommendations 24/7</a:t>
            </a:r>
          </a:p>
          <a:p>
            <a:pPr algn="l" marL="603363" indent="-301682" lvl="1">
              <a:lnSpc>
                <a:spcPts val="3912"/>
              </a:lnSpc>
              <a:buAutoNum type="arabicPeriod" startAt="1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Tracks mood and visualizes progress</a:t>
            </a:r>
          </a:p>
          <a:p>
            <a:pPr algn="l" marL="603363" indent="-301682" lvl="1">
              <a:lnSpc>
                <a:spcPts val="3912"/>
              </a:lnSpc>
              <a:buAutoNum type="arabicPeriod" startAt="1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Offers instant support through intelligent conversations</a:t>
            </a:r>
          </a:p>
          <a:p>
            <a:pPr algn="l">
              <a:lnSpc>
                <a:spcPts val="3912"/>
              </a:lnSpc>
            </a:pPr>
            <a:r>
              <a:rPr lang="en-US" sz="2794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Vision: A digital wellness companion promoting holistic health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861660" y="947160"/>
            <a:ext cx="11109022" cy="2006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7"/>
              </a:lnSpc>
            </a:pPr>
            <a:r>
              <a:rPr lang="en-US" b="true" sz="5776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 STATEMENT &amp; SOLUTION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40330" y="198721"/>
            <a:ext cx="8514947" cy="188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3"/>
              </a:lnSpc>
            </a:pPr>
            <a:r>
              <a:rPr lang="en-US" b="true" sz="5438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PROJECT OBJECTIVE &amp;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2611" y="2030554"/>
            <a:ext cx="7905193" cy="813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2"/>
              </a:lnSpc>
            </a:pPr>
          </a:p>
          <a:p>
            <a:pPr algn="l">
              <a:lnSpc>
                <a:spcPts val="3382"/>
              </a:lnSpc>
            </a:pPr>
            <a:r>
              <a:rPr lang="en-US" sz="2415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Core Objectives:</a:t>
            </a:r>
          </a:p>
          <a:p>
            <a:pPr algn="l" marL="521591" indent="-260796" lvl="1">
              <a:lnSpc>
                <a:spcPts val="3382"/>
              </a:lnSpc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Interactive chat interface for mood assessment and wellness conversations</a:t>
            </a:r>
          </a:p>
          <a:p>
            <a:pPr algn="l" marL="521591" indent="-260796" lvl="1">
              <a:lnSpc>
                <a:spcPts val="3382"/>
              </a:lnSpc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Real-time emotion and stress level detection using NLP</a:t>
            </a:r>
          </a:p>
          <a:p>
            <a:pPr algn="l" marL="521591" indent="-260796" lvl="1">
              <a:lnSpc>
                <a:spcPts val="3382"/>
              </a:lnSpc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Personalized wellness suggestions (breathing exercises, meditation, diet tips)</a:t>
            </a:r>
          </a:p>
          <a:p>
            <a:pPr algn="l" marL="521591" indent="-260796" lvl="1">
              <a:lnSpc>
                <a:spcPts val="3382"/>
              </a:lnSpc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Daily activity and mood tracking with visual progress charts</a:t>
            </a:r>
          </a:p>
          <a:p>
            <a:pPr algn="l">
              <a:lnSpc>
                <a:spcPts val="3382"/>
              </a:lnSpc>
            </a:pPr>
            <a:r>
              <a:rPr lang="en-US" sz="24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Responsive web interface accessible across all devices</a:t>
            </a:r>
          </a:p>
          <a:p>
            <a:pPr algn="l" marL="521591" indent="-260796" lvl="1">
              <a:lnSpc>
                <a:spcPts val="3382"/>
              </a:lnSpc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Real-time emotion and stress level detection using NLP</a:t>
            </a:r>
          </a:p>
          <a:p>
            <a:pPr algn="l" marL="521591" indent="-260796" lvl="1">
              <a:lnSpc>
                <a:spcPts val="3382"/>
              </a:lnSpc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Personalized wellness suggestions (breathing exercises, meditation, diet tips)</a:t>
            </a:r>
          </a:p>
          <a:p>
            <a:pPr algn="l" marL="521591" indent="-260796" lvl="1">
              <a:lnSpc>
                <a:spcPts val="3382"/>
              </a:lnSpc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Daily activity and mood tracking with visual progress charts</a:t>
            </a:r>
          </a:p>
          <a:p>
            <a:pPr algn="l" marL="521591" indent="-260796" lvl="1">
              <a:lnSpc>
                <a:spcPts val="3382"/>
              </a:lnSpc>
              <a:buFont typeface="Arial"/>
              <a:buChar char="•"/>
            </a:pPr>
            <a:r>
              <a:rPr lang="en-US" sz="24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Responsive web interface accessible across all devices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975797" y="2609307"/>
            <a:ext cx="7056680" cy="301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457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Target Impact:</a:t>
            </a:r>
          </a:p>
          <a:p>
            <a:pPr algn="l" marL="530602" indent="-265301" lvl="1">
              <a:lnSpc>
                <a:spcPts val="3440"/>
              </a:lnSpc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Individual: Better mental health awareness and healthier lifestyle choices</a:t>
            </a:r>
          </a:p>
          <a:p>
            <a:pPr algn="l" marL="530602" indent="-265301" lvl="1">
              <a:lnSpc>
                <a:spcPts val="3440"/>
              </a:lnSpc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Societal: Accessible wellness support and reduced mental health stigma</a:t>
            </a:r>
          </a:p>
          <a:p>
            <a:pPr algn="l" marL="530602" indent="-265301" lvl="1">
              <a:lnSpc>
                <a:spcPts val="3440"/>
              </a:lnSpc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Academic: Practical AI/ML application in healthcare technology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5793" y="2435778"/>
            <a:ext cx="840118" cy="840118"/>
            <a:chOff x="0" y="0"/>
            <a:chExt cx="1120157" cy="112015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120157" cy="1120157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74646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6847" y="220142"/>
              <a:ext cx="986464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66741" y="2500670"/>
            <a:ext cx="840118" cy="840118"/>
            <a:chOff x="0" y="0"/>
            <a:chExt cx="1120157" cy="112015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120157" cy="1120157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74646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6847" y="220142"/>
              <a:ext cx="986464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3281950" y="2276970"/>
          <a:ext cx="11724100" cy="7588954"/>
        </p:xfrm>
        <a:graphic>
          <a:graphicData uri="http://schemas.openxmlformats.org/drawingml/2006/table">
            <a:tbl>
              <a:tblPr/>
              <a:tblGrid>
                <a:gridCol w="2617276"/>
                <a:gridCol w="2595317"/>
                <a:gridCol w="6511507"/>
              </a:tblGrid>
              <a:tr h="9190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141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141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06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141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141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HTML, CSS, JavaScript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141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Interactive chatbot UI and real-time interactions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06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141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141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Flask/Streamlit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141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Server, API management, and NLP 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8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141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ML Engine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scikit-learn, NLTK, pandas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Sentiment analysis and emotion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0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141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Database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SQLite/JSON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User mood logs and wellness datasets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06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1413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Visualization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141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Chart.js, Matplotlib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141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Progress tracking charts and analytics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4544625" y="400908"/>
            <a:ext cx="9869946" cy="168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b="true" sz="486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SYSTEM ARCHITECTURE&amp; TECHNOLOGY STACK 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274861" y="273717"/>
            <a:ext cx="5738278" cy="1404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97"/>
              </a:lnSpc>
            </a:pPr>
            <a:r>
              <a:rPr lang="en-US" b="true" sz="8212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MODULES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35469" y="2414945"/>
            <a:ext cx="13585195" cy="667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3"/>
              </a:lnSpc>
            </a:pPr>
            <a:r>
              <a:rPr lang="en-US" sz="3181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Module 1: Frontend &amp; Data Preparation</a:t>
            </a:r>
          </a:p>
          <a:p>
            <a:pPr algn="l" marL="686866" indent="-343433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Interactive web chatbot UI (HTML/CSS/JS)</a:t>
            </a:r>
          </a:p>
          <a:p>
            <a:pPr algn="l" marL="686866" indent="-343433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Dataset collection and cleaning for wellness tips</a:t>
            </a:r>
          </a:p>
          <a:p>
            <a:pPr algn="l" marL="686866" indent="-343433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Deliverable:</a:t>
            </a:r>
            <a:r>
              <a:rPr lang="en-US" sz="3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UI pages + cleaned CSV dataset</a:t>
            </a:r>
          </a:p>
          <a:p>
            <a:pPr algn="l">
              <a:lnSpc>
                <a:spcPts val="4453"/>
              </a:lnSpc>
            </a:pPr>
            <a:r>
              <a:rPr lang="en-US" sz="3181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Module 2: Emotion Detection Model</a:t>
            </a:r>
          </a:p>
          <a:p>
            <a:pPr algn="l" marL="686866" indent="-343433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NLP-based sentiment analysis</a:t>
            </a:r>
          </a:p>
          <a:p>
            <a:pPr algn="l" marL="686866" indent="-343433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Emotion classification (happy, sad, stressed, anxious)</a:t>
            </a:r>
          </a:p>
          <a:p>
            <a:pPr algn="l" marL="686866" indent="-343433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Deliverable:</a:t>
            </a:r>
            <a:r>
              <a:rPr lang="en-US" sz="3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Trained ML model with accuracy report</a:t>
            </a:r>
          </a:p>
          <a:p>
            <a:pPr algn="l">
              <a:lnSpc>
                <a:spcPts val="4453"/>
              </a:lnSpc>
            </a:pPr>
            <a:r>
              <a:rPr lang="en-US" sz="3181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Module 3: Wellness Suggestion Engine</a:t>
            </a:r>
          </a:p>
          <a:p>
            <a:pPr algn="l" marL="686866" indent="-343433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Rule-based emotion-to-wellness tip mapping</a:t>
            </a:r>
          </a:p>
          <a:p>
            <a:pPr algn="l" marL="686866" indent="-343433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Personalized content delivery (breathing exercises, meditation, diet tips)</a:t>
            </a:r>
          </a:p>
          <a:p>
            <a:pPr algn="l" marL="686866" indent="-343433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Deliverable:</a:t>
            </a:r>
            <a:r>
              <a:rPr lang="en-US" sz="318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wellness_suggestions.csv + retrieval 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608666" y="1817355"/>
            <a:ext cx="11425835" cy="690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4"/>
              </a:lnSpc>
            </a:pPr>
            <a:r>
              <a:rPr lang="en-US" sz="3288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Module 4: Mood Tracker &amp; Visualization</a:t>
            </a:r>
          </a:p>
          <a:p>
            <a:pPr algn="l" marL="710061" indent="-355031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Daily mood logging and activity tracking</a:t>
            </a:r>
          </a:p>
          <a:p>
            <a:pPr algn="l" marL="710061" indent="-355031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Progress visualization with interactive charts</a:t>
            </a:r>
          </a:p>
          <a:p>
            <a:pPr algn="l" marL="710061" indent="-355031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Deliverable:</a:t>
            </a:r>
            <a:r>
              <a:rPr lang="en-US" sz="32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SQLite database + tracking dashboard</a:t>
            </a:r>
          </a:p>
          <a:p>
            <a:pPr algn="l">
              <a:lnSpc>
                <a:spcPts val="4604"/>
              </a:lnSpc>
            </a:pPr>
            <a:r>
              <a:rPr lang="en-US" sz="3288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Module 5: Full System Integration</a:t>
            </a:r>
          </a:p>
          <a:p>
            <a:pPr algn="l" marL="710061" indent="-355031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REST API connecting frontend and backend</a:t>
            </a:r>
          </a:p>
          <a:p>
            <a:pPr algn="l" marL="710061" indent="-355031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ML model integration and real-time data sync</a:t>
            </a:r>
          </a:p>
          <a:p>
            <a:pPr algn="l" marL="710061" indent="-355031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Deliverable:</a:t>
            </a:r>
            <a:r>
              <a:rPr lang="en-US" sz="32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Fully integrated functional chatbot</a:t>
            </a:r>
          </a:p>
          <a:p>
            <a:pPr algn="l">
              <a:lnSpc>
                <a:spcPts val="4604"/>
              </a:lnSpc>
            </a:pPr>
            <a:r>
              <a:rPr lang="en-US" sz="3288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Module 6: Deployment &amp; Documentation</a:t>
            </a:r>
          </a:p>
          <a:p>
            <a:pPr algn="l" marL="710061" indent="-355031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Testing (unit, integration, user acceptance)</a:t>
            </a:r>
          </a:p>
          <a:p>
            <a:pPr algn="l" marL="710061" indent="-355031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Cloud deployment and comprehensive documentation</a:t>
            </a:r>
          </a:p>
          <a:p>
            <a:pPr algn="l" marL="710061" indent="-355031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Deliverable:</a:t>
            </a:r>
            <a:r>
              <a:rPr lang="en-US" sz="328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Hosted app + technical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442708" y="684137"/>
            <a:ext cx="7857197" cy="101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b="true" sz="59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REQUIREMENTS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59116" y="1869843"/>
            <a:ext cx="12826650" cy="765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2925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Functional Requirements: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Chat interface with real-time message exchange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Wellness support (mental health tips, physical wellness advice, relaxation exercises)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Mood detection through sentiment analysis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Secure data handling and storage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Flask backend integration for NLP processing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User feedback system for continuous improvement</a:t>
            </a:r>
          </a:p>
          <a:p>
            <a:pPr algn="l">
              <a:lnSpc>
                <a:spcPts val="4096"/>
              </a:lnSpc>
            </a:pPr>
            <a:r>
              <a:rPr lang="en-US" sz="2925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Non-Functional Requirements: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Performance:</a:t>
            </a: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Response time &lt; 2 seconds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Usability:</a:t>
            </a: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Responsive, mobile-friendly design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Reliability:</a:t>
            </a: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24/7 availability with error handling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Security:</a:t>
            </a: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Data encryption and privacy protection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Scalability:</a:t>
            </a: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Modular architecture for future features</a:t>
            </a:r>
          </a:p>
          <a:p>
            <a:pPr algn="l" marL="631694" indent="-315847" lvl="1">
              <a:lnSpc>
                <a:spcPts val="4096"/>
              </a:lnSpc>
              <a:buFont typeface="Arial"/>
              <a:buChar char="•"/>
            </a:pPr>
            <a:r>
              <a:rPr lang="en-US" sz="2925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Maintainability:</a:t>
            </a:r>
            <a:r>
              <a:rPr lang="en-US" sz="29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Well-documented, clean code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00976" y="895350"/>
            <a:ext cx="9932564" cy="117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2"/>
              </a:lnSpc>
            </a:pPr>
            <a:r>
              <a:rPr lang="en-US" b="true" sz="685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WELL-BOT WORKS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85116" y="2224647"/>
            <a:ext cx="10321322" cy="734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 1: User opens WellBot and starts conversation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 2: User shares current mood or concerns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 3: WellBot analyzes sentiment and detects emotion using NLP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 4: User receives personalized wellness suggestions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 5: Mood is logged and progress tracked over time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↓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 6: User provides feedback for improvement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Key Features: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Natural conversation flow with emotion-aware responses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Real-time sentiment analysis (accuracy &gt; 85%)</a:t>
            </a:r>
          </a:p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Visual mood tracking and historical data analysis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07553" y="914400"/>
            <a:ext cx="14991180" cy="103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4"/>
              </a:lnSpc>
            </a:pPr>
            <a:r>
              <a:rPr lang="en-US" b="true" sz="6053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EXPECTED OUTCOMES AND 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13823" y="2021029"/>
            <a:ext cx="11689666" cy="793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657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Primary Deliverables: 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 Fully functional AI wellness chatbot accessible online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 Emotion-aware conversation system with NLP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Personalized wellness recommendation engine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Data visualization and habit tracking dashboard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Complete technical and user documentation</a:t>
            </a:r>
          </a:p>
          <a:p>
            <a:pPr algn="l">
              <a:lnSpc>
                <a:spcPts val="3720"/>
              </a:lnSpc>
            </a:pPr>
          </a:p>
          <a:p>
            <a:pPr algn="l">
              <a:lnSpc>
                <a:spcPts val="3720"/>
              </a:lnSpc>
            </a:pPr>
            <a:r>
              <a:rPr lang="en-US" sz="2657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User Benefits: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Improved mental and physical well-being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Better self-awareness through mood tracking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24/7 access to personalized wellness guidance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Consistent support for developing healthy habits</a:t>
            </a:r>
          </a:p>
          <a:p>
            <a:pPr algn="l">
              <a:lnSpc>
                <a:spcPts val="3720"/>
              </a:lnSpc>
            </a:pPr>
          </a:p>
          <a:p>
            <a:pPr algn="l">
              <a:lnSpc>
                <a:spcPts val="3720"/>
              </a:lnSpc>
            </a:pPr>
            <a:r>
              <a:rPr lang="en-US" sz="2657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Measurable Impact: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Enhanced stress management skills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Increased health awareness</a:t>
            </a:r>
          </a:p>
          <a:p>
            <a:pPr algn="l" marL="573789" indent="-286895" lvl="1">
              <a:lnSpc>
                <a:spcPts val="3720"/>
              </a:lnSpc>
              <a:buFont typeface="Arial"/>
              <a:buChar char="•"/>
            </a:pPr>
            <a:r>
              <a:rPr lang="en-US" sz="265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Preventive approach to wellness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37474" y="895350"/>
            <a:ext cx="10213053" cy="110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b="true" sz="636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FUTURE ENHANCEMENTS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10201" y="2424470"/>
            <a:ext cx="11635732" cy="66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7"/>
              </a:lnSpc>
            </a:pPr>
            <a:r>
              <a:rPr lang="en-US" sz="2948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Short-term Enhancements:</a:t>
            </a:r>
          </a:p>
          <a:p>
            <a:pPr algn="l" marL="636510" indent="-318255" lvl="1">
              <a:lnSpc>
                <a:spcPts val="4127"/>
              </a:lnSpc>
              <a:buFont typeface="Arial"/>
              <a:buChar char="•"/>
            </a:pPr>
            <a:r>
              <a:rPr lang="en-US" sz="2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Voice-based interaction capability for hands-free use</a:t>
            </a:r>
          </a:p>
          <a:p>
            <a:pPr algn="l" marL="636510" indent="-318255" lvl="1">
              <a:lnSpc>
                <a:spcPts val="4127"/>
              </a:lnSpc>
              <a:buFont typeface="Arial"/>
              <a:buChar char="•"/>
            </a:pPr>
            <a:r>
              <a:rPr lang="en-US" sz="2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Multilingual support for global accessibility</a:t>
            </a:r>
          </a:p>
          <a:p>
            <a:pPr algn="l" marL="636510" indent="-318255" lvl="1">
              <a:lnSpc>
                <a:spcPts val="4127"/>
              </a:lnSpc>
              <a:buFont typeface="Arial"/>
              <a:buChar char="•"/>
            </a:pPr>
            <a:r>
              <a:rPr lang="en-US" sz="2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Advanced emotion detection with deep learning models</a:t>
            </a:r>
          </a:p>
          <a:p>
            <a:pPr algn="l">
              <a:lnSpc>
                <a:spcPts val="4127"/>
              </a:lnSpc>
            </a:pPr>
          </a:p>
          <a:p>
            <a:pPr algn="l">
              <a:lnSpc>
                <a:spcPts val="4127"/>
              </a:lnSpc>
            </a:pPr>
            <a:r>
              <a:rPr lang="en-US" sz="2948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Long-term Vision:</a:t>
            </a:r>
          </a:p>
          <a:p>
            <a:pPr algn="l" marL="636510" indent="-318255" lvl="1">
              <a:lnSpc>
                <a:spcPts val="4127"/>
              </a:lnSpc>
              <a:buFont typeface="Arial"/>
              <a:buChar char="•"/>
            </a:pPr>
            <a:r>
              <a:rPr lang="en-US" sz="2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Integration with wearable devices (fitness trackers, smartwatches)</a:t>
            </a:r>
          </a:p>
          <a:p>
            <a:pPr algn="l" marL="636510" indent="-318255" lvl="1">
              <a:lnSpc>
                <a:spcPts val="4127"/>
              </a:lnSpc>
              <a:buFont typeface="Arial"/>
              <a:buChar char="•"/>
            </a:pPr>
            <a:r>
              <a:rPr lang="en-US" sz="2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AI-based adaptive learning from user behavior patterns</a:t>
            </a:r>
          </a:p>
          <a:p>
            <a:pPr algn="l" marL="636510" indent="-318255" lvl="1">
              <a:lnSpc>
                <a:spcPts val="4127"/>
              </a:lnSpc>
              <a:buFont typeface="Arial"/>
              <a:buChar char="•"/>
            </a:pPr>
            <a:r>
              <a:rPr lang="en-US" sz="2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Personalized multi-week wellness programs</a:t>
            </a:r>
          </a:p>
          <a:p>
            <a:pPr algn="l" marL="636510" indent="-318255" lvl="1">
              <a:lnSpc>
                <a:spcPts val="4127"/>
              </a:lnSpc>
              <a:buFont typeface="Arial"/>
              <a:buChar char="•"/>
            </a:pPr>
            <a:r>
              <a:rPr lang="en-US" sz="2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Community features and peer support networks</a:t>
            </a:r>
          </a:p>
          <a:p>
            <a:pPr algn="l" marL="636510" indent="-318255" lvl="1">
              <a:lnSpc>
                <a:spcPts val="4127"/>
              </a:lnSpc>
              <a:buFont typeface="Arial"/>
              <a:buChar char="•"/>
            </a:pPr>
            <a:r>
              <a:rPr lang="en-US" sz="29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Professional counselor referral system for critical cases</a:t>
            </a:r>
          </a:p>
          <a:p>
            <a:pPr algn="l">
              <a:lnSpc>
                <a:spcPts val="4127"/>
              </a:lnSpc>
            </a:pPr>
          </a:p>
          <a:p>
            <a:pPr algn="l">
              <a:lnSpc>
                <a:spcPts val="4127"/>
              </a:lnSpc>
            </a:pPr>
            <a:r>
              <a:rPr lang="en-US" sz="2948">
                <a:solidFill>
                  <a:srgbClr val="141413"/>
                </a:solidFill>
                <a:latin typeface="Nunito"/>
                <a:ea typeface="Nunito"/>
                <a:cs typeface="Nunito"/>
                <a:sym typeface="Nunito"/>
              </a:rPr>
              <a:t>Scalability: Cloud infrastructure ready for expanding user base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817096" y="1268554"/>
            <a:ext cx="6653807" cy="1232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93"/>
              </a:lnSpc>
            </a:pPr>
            <a:r>
              <a:rPr lang="en-US" b="true" sz="720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08157" y="2934580"/>
            <a:ext cx="14818508" cy="538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3079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WellBot Represents:</a:t>
            </a:r>
          </a:p>
          <a:p>
            <a:pPr algn="l" marL="664925" indent="-332462" lvl="1">
              <a:lnSpc>
                <a:spcPts val="4311"/>
              </a:lnSpc>
              <a:buFont typeface="Arial"/>
              <a:buChar char="•"/>
            </a:pPr>
            <a:r>
              <a:rPr lang="en-US" sz="30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Practical AI/ML solution to real-world wellness challenges</a:t>
            </a:r>
          </a:p>
          <a:p>
            <a:pPr algn="l" marL="664925" indent="-332462" lvl="1">
              <a:lnSpc>
                <a:spcPts val="4311"/>
              </a:lnSpc>
              <a:buFont typeface="Arial"/>
              <a:buChar char="•"/>
            </a:pPr>
            <a:r>
              <a:rPr lang="en-US" sz="30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User-centric design with holistic health approach</a:t>
            </a:r>
          </a:p>
          <a:p>
            <a:pPr algn="l" marL="664925" indent="-332462" lvl="1">
              <a:lnSpc>
                <a:spcPts val="4311"/>
              </a:lnSpc>
              <a:buFont typeface="Arial"/>
              <a:buChar char="•"/>
            </a:pPr>
            <a:r>
              <a:rPr lang="en-US" sz="30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Scalable, maintainable architecture for future growth</a:t>
            </a:r>
          </a:p>
          <a:p>
            <a:pPr algn="l">
              <a:lnSpc>
                <a:spcPts val="4311"/>
              </a:lnSpc>
            </a:pPr>
            <a:r>
              <a:rPr lang="en-US" sz="3079">
                <a:solidFill>
                  <a:srgbClr val="141413"/>
                </a:solidFill>
                <a:latin typeface="Arimo"/>
                <a:ea typeface="Arimo"/>
                <a:cs typeface="Arimo"/>
                <a:sym typeface="Arimo"/>
              </a:rPr>
              <a:t>Key Takeaways:</a:t>
            </a:r>
          </a:p>
          <a:p>
            <a:pPr algn="l" marL="664925" indent="-332462" lvl="1">
              <a:lnSpc>
                <a:spcPts val="4311"/>
              </a:lnSpc>
              <a:buFont typeface="Arial"/>
              <a:buChar char="•"/>
            </a:pPr>
            <a:r>
              <a:rPr lang="en-US" sz="30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Technology can meaningfully improve mental and physical well-being</a:t>
            </a:r>
          </a:p>
          <a:p>
            <a:pPr algn="l" marL="664925" indent="-332462" lvl="1">
              <a:lnSpc>
                <a:spcPts val="4311"/>
              </a:lnSpc>
              <a:buFont typeface="Arial"/>
              <a:buChar char="•"/>
            </a:pPr>
            <a:r>
              <a:rPr lang="en-US" sz="30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Personalized AI assistance is transforming healthcare</a:t>
            </a:r>
          </a:p>
          <a:p>
            <a:pPr algn="l" marL="664925" indent="-332462" lvl="1">
              <a:lnSpc>
                <a:spcPts val="4311"/>
              </a:lnSpc>
              <a:buFont typeface="Arial"/>
              <a:buChar char="•"/>
            </a:pPr>
            <a:r>
              <a:rPr lang="en-US" sz="30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Continuous learning and user feedback drive innovation</a:t>
            </a:r>
          </a:p>
          <a:p>
            <a:pPr algn="l">
              <a:lnSpc>
                <a:spcPts val="4311"/>
              </a:lnSpc>
            </a:pPr>
            <a:r>
              <a:rPr lang="en-US" sz="3079">
                <a:solidFill>
                  <a:srgbClr val="141413"/>
                </a:solidFill>
                <a:latin typeface="Nunito"/>
                <a:ea typeface="Nunito"/>
                <a:cs typeface="Nunito"/>
                <a:sym typeface="Nunito"/>
              </a:rPr>
              <a:t>Learning Outcomes: Full-stack development, NLP, ML model training, cloud deployment, project management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13131" y="3908425"/>
            <a:ext cx="102617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b="true" sz="12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DAG1Ibpg8OA</dc:identifier>
  <dcterms:modified xsi:type="dcterms:W3CDTF">2011-08-01T06:04:30Z</dcterms:modified>
  <cp:revision>1</cp:revision>
  <dc:title>By Aishwarya Polagoni</dc:title>
</cp:coreProperties>
</file>